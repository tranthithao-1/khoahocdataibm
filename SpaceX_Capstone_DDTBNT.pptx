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05F69A-60DB-4A76-9950-F66ACB603242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4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95F05E-83C8-423F-86A5-3C02F85AD104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FA260B-ECEB-42EC-9621-1000F655B0B8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en-US" sz="4800" b="0" u="none" strike="noStrike">
                <a:solidFill>
                  <a:srgbClr val="005493"/>
                </a:solidFill>
                <a:effectLst/>
                <a:uFillTx/>
                <a:latin typeface="IBM Plex Mono SemiBold"/>
                <a:ea typeface="IBM Plex Mono SemiBold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rgbClr val="005493"/>
                </a:solidFill>
                <a:effectLst/>
                <a:uFillTx/>
                <a:latin typeface="IBM Plex Mono SemiBold"/>
                <a:ea typeface="IBM Plex Mono SemiBold"/>
              </a:rPr>
              <a:t>Click to edit Master title style</a:t>
            </a:r>
            <a:endParaRPr lang="en-US" sz="4800" b="0" u="none" strike="noStrike">
              <a:solidFill>
                <a:srgbClr val="005493"/>
              </a:solidFill>
              <a:effectLst/>
              <a:uFillTx/>
              <a:latin typeface="IBM Plex Mono SemiBold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45000" tIns="90000" rIns="45000" bIns="9000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818802-1C50-4363-861C-6D43F3DBDF17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0D597-387C-4F85-9DE5-373E5C98C471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9E9281-5C8B-4AA6-B4D1-951FD19C26F7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1C7DDB"/>
              </a:solidFill>
              <a:effectLst/>
              <a:uFillTx/>
              <a:latin typeface="Abad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1C7DDB"/>
              </a:solidFill>
              <a:effectLst/>
              <a:uFillTx/>
              <a:latin typeface="Abad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1C7DDB"/>
              </a:solidFill>
              <a:effectLst/>
              <a:uFillTx/>
              <a:latin typeface="Abad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r" defTabSz="914400">
              <a:lnSpc>
                <a:spcPct val="90000"/>
              </a:lnSpc>
              <a:spcBef>
                <a:spcPts val="1001"/>
              </a:spcBef>
              <a:buClr>
                <a:srgbClr val="1C7DDB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r" defTabSz="914400">
              <a:lnSpc>
                <a:spcPct val="90000"/>
              </a:lnSpc>
              <a:spcBef>
                <a:spcPts val="1001"/>
              </a:spcBef>
              <a:buClr>
                <a:srgbClr val="1C7DDB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Click to edit Master text styles</a:t>
            </a:r>
            <a:endParaRPr lang="en-US" sz="1600" b="0" u="none" strike="noStrike">
              <a:solidFill>
                <a:srgbClr val="1C7DDB"/>
              </a:solidFill>
              <a:effectLst/>
              <a:uFillTx/>
              <a:latin typeface="Abad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1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974BC0-4706-4520-BADB-DED00E0C52EA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4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7B662E-A4E7-419F-8F05-B6E297E94BC5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2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2B3265-E8FD-4D33-BFD8-00B6CAA96BE2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CD163E-6C4B-4D80-A4C0-89BC1285D8E6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C81F3-B75A-4CAE-9BC9-D5A901FC26CC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5"/>
          <p:cNvSpPr/>
          <p:nvPr/>
        </p:nvSpPr>
        <p:spPr>
          <a:xfrm>
            <a:off x="888480" y="4568760"/>
            <a:ext cx="89413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Abadi"/>
                <a:ea typeface="SF Pro"/>
              </a:rPr>
              <a:t>&lt;Do Duc Tho&gt;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Abadi"/>
                <a:ea typeface="SF Pro"/>
              </a:rPr>
              <a:t>&lt;04-08-2026&gt;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Abadi"/>
                <a:ea typeface="SF Pro"/>
              </a:rPr>
              <a:t>https://github.com/ddtbnt/IBM-Applied-Data-Science-Capstone-Project-ddtbnt.git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2" descr="IBM Skills Network Logo - Horizontal-noai copy.png"/>
          <p:cNvPicPr/>
          <p:nvPr/>
        </p:nvPicPr>
        <p:blipFill>
          <a:blip r:embed="rId2"/>
          <a:stretch/>
        </p:blipFill>
        <p:spPr>
          <a:xfrm>
            <a:off x="889920" y="676800"/>
            <a:ext cx="2103840" cy="6289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Num" idx="34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C7A01332-EE08-49BD-A5EE-05E7312D15A4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Title 1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Project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ontent Placeholder 1"/>
          <p:cNvSpPr/>
          <p:nvPr/>
        </p:nvSpPr>
        <p:spPr>
          <a:xfrm>
            <a:off x="1143000" y="1828800"/>
            <a:ext cx="9372600" cy="25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Data Collection – Gather data from SpaceX API and Wikipedia web scraping.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Data Wrangling – Clean data, handle missing values, create Class column (0/1).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EDA – Analyze data using Seaborn, Matplotlib, and SQL queries.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Visual Analytics – Interactive Folium maps and Dash dashboard.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ML Prediction – Predict launch success with 4 ML models; evaluate using Accuracy/F1, Confusion Matrix, ROC curve.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Num" idx="35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82DA6580-59ED-4490-BF4B-4A4BB2FFED8E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3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itle 2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Executive Summary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ontent Placeholder 2"/>
          <p:cNvSpPr/>
          <p:nvPr/>
        </p:nvSpPr>
        <p:spPr>
          <a:xfrm>
            <a:off x="1143000" y="1828800"/>
            <a:ext cx="9372600" cy="25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SpaceX API – Collect launch data.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Web Scraping – Gather additional data from Wikipedia.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Data Wrangling – Clean data, handle missing values, create Class column.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EDA – Analyze data with charts and SQL queries.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Visual Analytics – Interactive Folium maps and Dash dashboard.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ML Prediction – Predict launch success using 4 ML models.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36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525A4FC2-9A82-4FB6-905A-7D57BB58DF0A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4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itle 3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Introduction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Content Placeholder 3"/>
          <p:cNvSpPr/>
          <p:nvPr/>
        </p:nvSpPr>
        <p:spPr>
          <a:xfrm>
            <a:off x="1143000" y="1828800"/>
            <a:ext cx="9372600" cy="25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Background – Analyze SpaceX Falcon 9 launches to understand patterns of success and failure.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Problem Statement – Predict launch success and provide actionable insights.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Objective – Explore data, identify trends, and apply predictive models for decision-making.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Num" idx="3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2D761468-0452-43C1-BED5-FA56B52C093E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5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itle 4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Data Collection – SpaceX API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ontent Placeholder 4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Collect launch data from SpaceX API.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Send GET requests to SpaceX API endpoints.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Process JSON responses and convert to Pandas DataFrame.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Inspect data with head() to verify results.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SpaceX_Data_Collection_API.ipynb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https://github.com/ddtbnt/IBM-Applied-Data-Science-Capstone-Project-ddtbnt/blob/main/SpaceX-API/SpaceX_Data_Collection_API.ipynb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a screenshot of API call code and sample DataFrame output.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Num" idx="38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B96ED0BE-B3BA-4EAF-9C92-042DA995B2B2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6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itle 5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Data Collection – Web Scraping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ontent Placeholder 5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Collect additional Falcon 9 launch data from Wikipedia.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Use BeautifulSoup to scrape tables from Wikipedia pages.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Process HTML tables into clean Pandas DataFrame.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Verify and inspect data for completeness.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SpaceX_Web_Scraping.ipynb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https://github.com/ddtbnt/IBM-Applied-Data-Science-Capstone-Project-ddtbnt/blob/main/Web-Scraping/SpaceX_Web_Scraping.ipynb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 of scraping code and sample scraped table.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Num" idx="39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1750A4E7-6231-48E3-8152-3CD959075790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7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itle 6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Data Wrangling Methodology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ontent Placeholder 6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Clean and prepare the collected data for analysis.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Steps: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Handle missing values and remove duplicates.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Create Class column: 0 = failed, 1 = success.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Merge SpaceX API data with Web Scraped data into a unified DataFrame.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SpaceX_Data_Wrangling.ipynb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https://github.com/ddtbnt/IBM-Applied-Data-Science-Capstone-Project-ddtbnt/blob/main/Data-Wrangling/SpaceX_Data_Wrangling.ipynb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 of key cleaning code and example table after wrangling.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Num" idx="40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3CB871BF-7171-4354-9B20-839A857AE71B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8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Title 7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EDA with Data Visualization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ontent Placeholder 7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Explore patterns and trends in the data using visualizations.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Steps / Visuals: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Distribution of payload and success rate.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Catplot, scatterplot, and bar charts using Seaborn.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Extract insights from visual trends.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SpaceX_EDA_Visualization.ipynb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https://github.com/ddtbnt/IBM-Applied-Data-Science-Capstone-Project-ddtbnt/blob/main/EDA-with-Visualization/SpaceX_EDA_Visualization.ipynb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2–3 key charts as screenshots and brief notes on insights.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41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FB06AB39-D075-4DD2-AB95-485FB08CEEC9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9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itle 8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EDA with SQL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ontent Placeholder 8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Analyze SpaceX data using SQL queries to extract insights.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Steps / Queries: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Use SELECT, SUM, COUNT, GROUP BY to summarize launches.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Identify launches per year, success rates per launch site.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Explore trends in payloads and outcomes.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SpaceX_EDA_SQL.ipynb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https://github.com/ddtbnt/IBM-Applied-Data-Science-Capstone-Project-ddtbnt/blob/main/EDA%20with%20SQL/SpaceX_EDA_SQL.ipynb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screenshots of SQL code and result tables.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Num" idx="42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D611ACE5-658E-4824-9AB8-F5B8065E5DC0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10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itle 9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Interactive Visual Analytics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ontent Placeholder 9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6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Visualize SpaceX launch data interactively.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Steps / Tools: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Folium maps: Marker clusters, distance lines between launch sites.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Dash dashboard: Filter by payload, launch site, and booster version.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Explore patterns and correlations interactively.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Files: SpaceX_Folium_Maps.ipynb &amp; SpaceX_Dash_App.py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Folium: SpaceX_Folium_Maps.ipynb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Dash: SpaceX_Dash_App.py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screenshots of interactive map and Dash dashboard.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Num" idx="43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769760D0-DDCD-4F2A-82C3-B402AA47AEF5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11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itle 10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EDA Visualization Results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ontent Placeholder 10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Show insights from data visualizations.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Key Visuals: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Scatter plots: Payload vs launch outcome.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Bar charts: Success rate by booster version.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Catplots: Launch site success comparison.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SpaceX_EDA_Visualization.ipynb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https://github.com/ddtbnt/IBM-Applied-Data-Science-Capstone-Project-ddtbnt/blob/main/EDA-with-Visualization/SpaceX_EDA_Visualization.ipynb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screenshots of 2–3 charts with brief insight notes.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Num" idx="44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4C7B0218-7D10-420B-BCF5-9729C0217540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12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itle 11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EDA SQL Results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ontent Placeholder 11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Summarize insights using SQL queries.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Key Queries / Insights: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Total launches per year and per launch site.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Success vs failure rates by site.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Average payloads and other summary statistics.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SpaceX_EDA_SQL.ipynb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https://github.com/ddtbnt/IBM-Applied-Data-Science-Capstone-Project-ddtbnt/blob/main/EDA%20with%20SQL/SpaceX_EDA_SQL.ipynb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screenshots of SQL queries and resulting summary tables.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45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14545C05-B2C6-40B5-A2AD-C3146C418AF7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itle 13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Folium Map Results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ontent Placeholder 13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Display interactive map insights for SpaceX launches.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Key Visuals / Features: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Marker clusters for launch sites.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Lines showing distances between sites.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Proximity analysis of launch locations.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SpaceX_Folium_Maps.ipynb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https://github.com/ddtbnt/IBM-Applied-Data-Science-Capstone-Project-ddtbnt/blob/main/Folium/SpaceX_Folium_Maps.ipynb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screenshots of interactive map with clusters and lines.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46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759F8BA9-9AAE-4C97-B7F5-E2B2935358B6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itle 14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Plotly Dash Results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ontent Placeholder 14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Showcase interactive dashboard for launch data analysis.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Key Features / Visuals: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Pie chart: Success vs failure launches.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Scatter chart: Payload vs launch outcome.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Interactive filters: Filter by payload, site, booster version.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SpaceX_Dash_App.py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https://github.com/ddtbnt/IBM-Applied-Data-Science-Capstone-Project-ddtbnt/blob/main/EDA-with-Visualization/SpaceX_Dash_App.py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 of Dash dashboard showing pie and scatter charts with filters.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Num" idx="4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16DB8CA4-7ADC-4D8D-8CD5-B8C61D76E11B}" type="slidenum">
              <a:rPr lang="en-US" sz="1600" b="0" u="none" strike="noStrike">
                <a:solidFill>
                  <a:srgbClr val="1C7DDB"/>
                </a:solidFill>
                <a:effectLst/>
                <a:uFillTx/>
                <a:latin typeface="Abadi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itle 12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0" u="none" strike="noStrike">
                <a:solidFill>
                  <a:srgbClr val="0B49CB"/>
                </a:solidFill>
                <a:effectLst/>
                <a:uFillTx/>
                <a:latin typeface="Abadi"/>
                <a:ea typeface="IBM Plex Mono SemiBold"/>
              </a:rPr>
              <a:t>Predictive Analysis Results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ontent Placeholder 12"/>
          <p:cNvSpPr/>
          <p:nvPr/>
        </p:nvSpPr>
        <p:spPr>
          <a:xfrm>
            <a:off x="1143000" y="1828800"/>
            <a:ext cx="1028700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5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Purpose – Predict Falcon 9 launch success using Machine Learning models.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Models Used: Logistic Regression, SVM, Decision Tree, Random Forest.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Evaluation Metrics: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Confusion Matrix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Accuracy / F1 Score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ROC Curve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Highlight: Best performing model and key insights.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Reference File: SpaceX_Machine_Learning_Part_5.ipynb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GitHub URL: https://github.com/ddtbnt/IBM-Applied-Data-Science-Capstone-Project-ddtbnt/blob/main/SpaceX_Machine_Learning_Part_5.ipynb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292929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accent3">
                    <a:lumMod val="25000"/>
                  </a:schemeClr>
                </a:solidFill>
                <a:effectLst/>
                <a:uFillTx/>
                <a:latin typeface="Abadi"/>
              </a:rPr>
              <a:t>Tip: Include screenshot of confusion matrix, accuracy table, and ROC curve.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LibreOffice/26.2.1.2$Windows_X86_64 LibreOffice_project/620$Build-2</Application>
  <AppVersion>15.0000</AppVersion>
  <Words>1346</Words>
  <Paragraphs>234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2021-04-29T18:58:34Z</dcterms:created>
  <dc:creator>YAN Luo</dc:creator>
  <dc:description/>
  <dc:language>en-US</dc:language>
  <cp:lastModifiedBy/>
  <dcterms:modified xsi:type="dcterms:W3CDTF">2026-04-08T17:31:54Z</dcterms:modified>
  <cp:revision>203</cp:revision>
  <dc:subject/>
  <dc:title> &lt;Title&gt;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47</vt:i4>
  </property>
</Properties>
</file>